
<file path=[Content_Types].xml><?xml version="1.0" encoding="utf-8"?>
<Types xmlns="http://schemas.openxmlformats.org/package/2006/content-types">
  <Default Extension="png" ContentType="image/png"/>
  <Default Extension="png&amp;f=1&amp;nofb=1&amp;ipt=b6bce6e9e6c85b38134d6013a4e1b0da10f3fe64eaf61095e2842e5686059db3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70" r:id="rId10"/>
    <p:sldId id="264" r:id="rId11"/>
    <p:sldId id="271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2FB"/>
    <a:srgbClr val="6B4FBB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67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8413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0AE78-4D49-1232-CAD3-1C9E86B43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99DD9-3C85-3E55-4D08-35FAC7862F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F70F14-A604-97B5-7E1C-364A8A2EA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14029-4FDE-1A9A-214D-8B297B5C98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358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8D276-E4BA-9A30-FC69-DDD79ADFC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E56B1-9E46-F5E1-5980-0040ED8C2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A8795-86C7-0C25-1B37-5B4A7AB8E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BEBF1-3E88-691D-587F-296BE30CBD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03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B4DA6-15E0-2A60-5616-CAD283356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A1A720-B929-401C-6A72-C24297AA4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B6D38-66A4-7D0F-5158-365EA6386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8AC45-7C5D-CDF4-6475-B190CD79A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1177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eypraveenn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&amp;f=1&amp;nofb=1&amp;ipt=b6bce6e9e6c85b38134d6013a4e1b0da10f3fe64eaf61095e2842e5686059db3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&amp;f=1&amp;nofb=1&amp;ipt=b6bce6e9e6c85b38134d6013a4e1b0da10f3fe64eaf61095e2842e5686059db3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&amp;f=1&amp;nofb=1&amp;ipt=b6bce6e9e6c85b38134d6013a4e1b0da10f3fe64eaf61095e2842e5686059db3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.png&amp;f=1&amp;nofb=1&amp;ipt=b6bce6e9e6c85b38134d6013a4e1b0da10f3fe64eaf61095e2842e5686059db3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1.png&amp;f=1&amp;nofb=1&amp;ipt=b6bce6e9e6c85b38134d6013a4e1b0da10f3fe64eaf61095e2842e5686059db3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&amp;f=1&amp;nofb=1&amp;ipt=b6bce6e9e6c85b38134d6013a4e1b0da10f3fe64eaf61095e2842e5686059db3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&amp;f=1&amp;nofb=1&amp;ipt=b6bce6e9e6c85b38134d6013a4e1b0da10f3fe64eaf61095e2842e5686059db3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&amp;f=1&amp;nofb=1&amp;ipt=b6bce6e9e6c85b38134d6013a4e1b0da10f3fe64eaf61095e2842e5686059db3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&amp;f=1&amp;nofb=1&amp;ipt=b6bce6e9e6c85b38134d6013a4e1b0da10f3fe64eaf61095e2842e5686059db3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&amp;f=1&amp;nofb=1&amp;ipt=b6bce6e9e6c85b38134d6013a4e1b0da10f3fe64eaf61095e2842e5686059db3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&amp;f=1&amp;nofb=1&amp;ipt=b6bce6e9e6c85b38134d6013a4e1b0da10f3fe64eaf61095e2842e5686059db3"/><Relationship Id="rId5" Type="http://schemas.openxmlformats.org/officeDocument/2006/relationships/image" Target="../media/image29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&amp;f=1&amp;nofb=1&amp;ipt=b6bce6e9e6c85b38134d6013a4e1b0da10f3fe64eaf61095e2842e5686059db3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&amp;f=1&amp;nofb=1&amp;ipt=b6bce6e9e6c85b38134d6013a4e1b0da10f3fe64eaf61095e2842e5686059db3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1.png&amp;f=1&amp;nofb=1&amp;ipt=b6bce6e9e6c85b38134d6013a4e1b0da10f3fe64eaf61095e2842e5686059db3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19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&amp;f=1&amp;nofb=1&amp;ipt=b6bce6e9e6c85b38134d6013a4e1b0da10f3fe64eaf61095e2842e5686059db3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03120"/>
            <a:ext cx="5943600" cy="5943600"/>
          </a:xfrm>
          <a:prstGeom prst="ellipse">
            <a:avLst/>
          </a:prstGeom>
          <a:solidFill>
            <a:srgbClr val="3D2E73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058400" y="3840480"/>
            <a:ext cx="3840480" cy="3840480"/>
          </a:xfrm>
          <a:prstGeom prst="ellipse">
            <a:avLst/>
          </a:prstGeom>
          <a:solidFill>
            <a:srgbClr val="6B4FBB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94360" y="225357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CLINICALAUDIT AI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94360" y="307653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B7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Integrity Intelligence System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1792" y="3628296"/>
            <a:ext cx="2926080" cy="0"/>
          </a:xfrm>
          <a:prstGeom prst="line">
            <a:avLst/>
          </a:prstGeom>
          <a:noFill/>
          <a:ln w="19050">
            <a:solidFill>
              <a:srgbClr val="9B7FE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5"/>
          <p:cNvSpPr/>
          <p:nvPr/>
        </p:nvSpPr>
        <p:spPr>
          <a:xfrm>
            <a:off x="594360" y="3930049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2 - Clinical Decision Making and Pattern Recognition in Healthcare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GenAI Intern Assessment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61081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Jey Praveen Sivaraj  | </a:t>
            </a: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jeypraveenn@gmail.com</a:t>
            </a: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SRM Institute of Science and Technology</a:t>
            </a:r>
            <a:endParaRPr lang="en-US" sz="1150" dirty="0"/>
          </a:p>
        </p:txBody>
      </p:sp>
      <p:pic>
        <p:nvPicPr>
          <p:cNvPr id="11" name="Picture 10" descr="10 Top IT Companies In Nepal (2024)">
            <a:extLst>
              <a:ext uri="{FF2B5EF4-FFF2-40B4-BE49-F238E27FC236}">
                <a16:creationId xmlns:a16="http://schemas.microsoft.com/office/drawing/2014/main" id="{AF3D4F32-367B-9AF3-AEDA-29DF5865B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"/>
            <a:ext cx="2133600" cy="3644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566928" cy="566928"/>
          </a:xfrm>
          <a:prstGeom prst="ellipse">
            <a:avLst/>
          </a:prstGeom>
          <a:solidFill>
            <a:srgbClr val="F4F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4F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3898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1746504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payment integrity needs AI-driven pattern recognition</a:t>
            </a:r>
            <a:endParaRPr lang="en-US" sz="1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146304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2386584"/>
            <a:ext cx="566928" cy="566928"/>
          </a:xfrm>
          <a:prstGeom prst="ellipse">
            <a:avLst/>
          </a:prstGeom>
          <a:solidFill>
            <a:srgbClr val="F4F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94360" y="2386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4F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17320" y="23591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417320" y="271576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Topic-2 concepts mapped to the Treatment-Payment-Operations model</a:t>
            </a:r>
            <a:endParaRPr lang="en-US" sz="12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2432304"/>
            <a:ext cx="457200" cy="4572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94360" y="3355848"/>
            <a:ext cx="566928" cy="566928"/>
          </a:xfrm>
          <a:prstGeom prst="ellipse">
            <a:avLst/>
          </a:prstGeom>
          <a:solidFill>
            <a:srgbClr val="F4F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594360" y="3355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4F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417320" y="33284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417320" y="368503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from raw claims to an audit verdict</a:t>
            </a:r>
            <a:endParaRPr lang="en-US" sz="12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3401568"/>
            <a:ext cx="457200" cy="45720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94360" y="4325112"/>
            <a:ext cx="566928" cy="566928"/>
          </a:xfrm>
          <a:prstGeom prst="ellipse">
            <a:avLst/>
          </a:prstGeom>
          <a:solidFill>
            <a:srgbClr val="F4F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4"/>
          <p:cNvSpPr/>
          <p:nvPr/>
        </p:nvSpPr>
        <p:spPr>
          <a:xfrm>
            <a:off x="594360" y="4325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4F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417320" y="4297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417320" y="4654296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of ClinicalAudit AI</a:t>
            </a:r>
            <a:endParaRPr lang="en-US" sz="12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4370832"/>
            <a:ext cx="457200" cy="457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94360" y="5294376"/>
            <a:ext cx="566928" cy="566928"/>
          </a:xfrm>
          <a:prstGeom prst="ellipse">
            <a:avLst/>
          </a:prstGeom>
          <a:solidFill>
            <a:srgbClr val="F4F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/>
          <p:nvPr/>
        </p:nvSpPr>
        <p:spPr>
          <a:xfrm>
            <a:off x="594360" y="5294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4F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1417320" y="526694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Strategic Recommendations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1417320" y="562356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Cotiviti</a:t>
            </a:r>
            <a:endParaRPr lang="en-US" sz="125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7040" y="5340096"/>
            <a:ext cx="457200" cy="457200"/>
          </a:xfrm>
          <a:prstGeom prst="rect">
            <a:avLst/>
          </a:prstGeom>
        </p:spPr>
      </p:pic>
      <p:pic>
        <p:nvPicPr>
          <p:cNvPr id="31" name="Picture 30" descr="10 Top IT Companies In Nepal (2024)">
            <a:extLst>
              <a:ext uri="{FF2B5EF4-FFF2-40B4-BE49-F238E27FC236}">
                <a16:creationId xmlns:a16="http://schemas.microsoft.com/office/drawing/2014/main" id="{76D69811-1331-DE23-D5DA-0ED393DCBB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0" y="1"/>
            <a:ext cx="2133600" cy="3644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fraud, waste, and abuse cost the U.S. system an estimated $68 billion every year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6B4FB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$68B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annually to fraud,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waste, and abuse in U.S.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claims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4069080"/>
            <a:ext cx="2468880" cy="0"/>
          </a:xfrm>
          <a:prstGeom prst="line">
            <a:avLst/>
          </a:prstGeom>
          <a:noFill/>
          <a:ln w="12700">
            <a:solidFill>
              <a:srgbClr val="9B7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4800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payers now use AI in some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of claims processing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1865376"/>
            <a:ext cx="292608" cy="292608"/>
          </a:xfrm>
          <a:prstGeom prst="ellipse">
            <a:avLst/>
          </a:prstGeom>
          <a:solidFill>
            <a:srgbClr val="F4F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251960" y="18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8288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 are static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09160" y="2157984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thresholds catch obvious fraud but miss coordinated, evolving schemes.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51960" y="2889504"/>
            <a:ext cx="292608" cy="292608"/>
          </a:xfrm>
          <a:prstGeom prst="ellipse">
            <a:avLst/>
          </a:prstGeom>
          <a:solidFill>
            <a:srgbClr val="F4F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251960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285292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Pay-and-chase is reactive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709160" y="318211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review happens after payment, recovery is slow and expensive.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51960" y="3913632"/>
            <a:ext cx="292608" cy="292608"/>
          </a:xfrm>
          <a:prstGeom prst="ellipse">
            <a:avLst/>
          </a:prstGeom>
          <a:solidFill>
            <a:srgbClr val="F4F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251960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387705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doesn't scale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709160" y="42062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claims per year, far too few investigators to read each one.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51960" y="4937760"/>
            <a:ext cx="292608" cy="292608"/>
          </a:xfrm>
          <a:prstGeom prst="ellipse">
            <a:avLst/>
          </a:prstGeom>
          <a:solidFill>
            <a:srgbClr val="F4F2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251960" y="4937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4901184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Single-metric flags lack context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709160" y="523036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volume spike alone, or a code mismatch alone, rarely tells the full story.</a:t>
            </a:r>
            <a:endParaRPr lang="en-US" sz="1200" dirty="0"/>
          </a:p>
        </p:txBody>
      </p:sp>
      <p:pic>
        <p:nvPicPr>
          <p:cNvPr id="29" name="Picture 28" descr="10 Top IT Companies In Nepal (2024)">
            <a:extLst>
              <a:ext uri="{FF2B5EF4-FFF2-40B4-BE49-F238E27FC236}">
                <a16:creationId xmlns:a16="http://schemas.microsoft.com/office/drawing/2014/main" id="{3B8EE085-4F2A-4545-9E39-02A0DD087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1"/>
            <a:ext cx="2133600" cy="3644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2 Framework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Seven concepts, each mapped to a specific module in the proof of concept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F4F2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80136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28600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84378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on 12-month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history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55264" y="150876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F4F2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456432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80136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38144" y="228600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38144" y="284378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groups providers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behavior pattern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961888" y="150876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F4F2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163056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80136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44768" y="228600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44768" y="284378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tiering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668512" y="150876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F4F2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8869680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408" y="180136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51392" y="228600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851392" y="284378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risk factors with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data-derived confidence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70332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F4F2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749808" y="38862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3995928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44805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31520" y="503834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Analyst-style conclusion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combined signals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255264" y="370332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F4F2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3456432" y="38862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6160" y="3995928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38144" y="44805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GenAI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438144" y="503834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Step-logged autonomous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pipeline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961888" y="370332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F4F2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7"/>
          <p:cNvSpPr/>
          <p:nvPr/>
        </p:nvSpPr>
        <p:spPr>
          <a:xfrm>
            <a:off x="6163056" y="38862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2784" y="3995928"/>
            <a:ext cx="283464" cy="28346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144768" y="44805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Reasoning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144768" y="503834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structured LLM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brief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668512" y="3703320"/>
            <a:ext cx="2542032" cy="1965960"/>
          </a:xfrm>
          <a:prstGeom prst="roundRect">
            <a:avLst>
              <a:gd name="adj" fmla="val 3256"/>
            </a:avLst>
          </a:prstGeom>
          <a:solidFill>
            <a:srgbClr val="6B4FB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1"/>
          <p:cNvSpPr/>
          <p:nvPr/>
        </p:nvSpPr>
        <p:spPr>
          <a:xfrm>
            <a:off x="8851392" y="393192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TPO</a:t>
            </a:r>
            <a:endParaRPr lang="en-US" sz="1900" dirty="0"/>
          </a:p>
        </p:txBody>
      </p:sp>
      <p:sp>
        <p:nvSpPr>
          <p:cNvPr id="41" name="Text 32"/>
          <p:cNvSpPr/>
          <p:nvPr/>
        </p:nvSpPr>
        <p:spPr>
          <a:xfrm>
            <a:off x="8851392" y="4416552"/>
            <a:ext cx="2176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E8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Treatment, Payment,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8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- the three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8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every concept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8E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applied across</a:t>
            </a:r>
            <a:endParaRPr lang="en-US" sz="1080" dirty="0"/>
          </a:p>
        </p:txBody>
      </p:sp>
      <p:pic>
        <p:nvPicPr>
          <p:cNvPr id="45" name="Picture 44" descr="10 Top IT Companies In Nepal (2024)">
            <a:extLst>
              <a:ext uri="{FF2B5EF4-FFF2-40B4-BE49-F238E27FC236}">
                <a16:creationId xmlns:a16="http://schemas.microsoft.com/office/drawing/2014/main" id="{8B2256D7-19D7-938A-6266-FE1BF133B7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0" y="1"/>
            <a:ext cx="2133600" cy="3644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billing data to a regulator-grade audit verdict - six stages, fully automated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8008" y="1965960"/>
            <a:ext cx="1691640" cy="2331720"/>
          </a:xfrm>
          <a:prstGeom prst="roundRect">
            <a:avLst>
              <a:gd name="adj" fmla="val 4324"/>
            </a:avLst>
          </a:prstGeom>
          <a:solidFill>
            <a:srgbClr val="3D2E73"/>
          </a:solidFill>
          <a:ln w="12700">
            <a:solidFill>
              <a:srgbClr val="6B4F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35228" y="2167128"/>
            <a:ext cx="457200" cy="457200"/>
          </a:xfrm>
          <a:prstGeom prst="ellipse">
            <a:avLst/>
          </a:prstGeom>
          <a:solidFill>
            <a:srgbClr val="6B4FB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384" y="2272284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1160" y="2743200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09448" y="308152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5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billing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5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per provider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5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(claims, CPT, ICD-10)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648" y="3031236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410816" y="1965960"/>
            <a:ext cx="1691640" cy="2331720"/>
          </a:xfrm>
          <a:prstGeom prst="roundRect">
            <a:avLst>
              <a:gd name="adj" fmla="val 4324"/>
            </a:avLst>
          </a:prstGeom>
          <a:solidFill>
            <a:srgbClr val="3D2E73"/>
          </a:solidFill>
          <a:ln w="12700">
            <a:solidFill>
              <a:srgbClr val="6B4F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3028036" y="2167128"/>
            <a:ext cx="457200" cy="457200"/>
          </a:xfrm>
          <a:prstGeom prst="ellipse">
            <a:avLst/>
          </a:prstGeom>
          <a:solidFill>
            <a:srgbClr val="6B4FB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3192" y="2272284"/>
            <a:ext cx="246888" cy="2468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83968" y="2743200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Detect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2502256" y="308152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5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time-series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5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scan flags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5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spikes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456" y="3031236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303624" y="1965960"/>
            <a:ext cx="1691640" cy="2331720"/>
          </a:xfrm>
          <a:prstGeom prst="roundRect">
            <a:avLst>
              <a:gd name="adj" fmla="val 4324"/>
            </a:avLst>
          </a:prstGeom>
          <a:solidFill>
            <a:srgbClr val="3D2E73"/>
          </a:solidFill>
          <a:ln w="12700">
            <a:solidFill>
              <a:srgbClr val="6B4F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1"/>
          <p:cNvSpPr/>
          <p:nvPr/>
        </p:nvSpPr>
        <p:spPr>
          <a:xfrm>
            <a:off x="4920844" y="2167128"/>
            <a:ext cx="457200" cy="457200"/>
          </a:xfrm>
          <a:prstGeom prst="ellipse">
            <a:avLst/>
          </a:prstGeom>
          <a:solidFill>
            <a:srgbClr val="6B4FB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6000" y="2272284"/>
            <a:ext cx="246888" cy="2468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376776" y="2743200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Cluster &amp; Score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4395064" y="308152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5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groups providers;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5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anomaly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5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(0-100) computed</a:t>
            </a:r>
            <a:endParaRPr lang="en-US" sz="9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264" y="3031236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196432" y="1965960"/>
            <a:ext cx="1691640" cy="2331720"/>
          </a:xfrm>
          <a:prstGeom prst="roundRect">
            <a:avLst>
              <a:gd name="adj" fmla="val 4324"/>
            </a:avLst>
          </a:prstGeom>
          <a:solidFill>
            <a:srgbClr val="3D2E73"/>
          </a:solidFill>
          <a:ln w="12700">
            <a:solidFill>
              <a:srgbClr val="6B4F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5"/>
          <p:cNvSpPr/>
          <p:nvPr/>
        </p:nvSpPr>
        <p:spPr>
          <a:xfrm>
            <a:off x="6813652" y="2167128"/>
            <a:ext cx="457200" cy="457200"/>
          </a:xfrm>
          <a:prstGeom prst="ellipse">
            <a:avLst/>
          </a:prstGeom>
          <a:solidFill>
            <a:srgbClr val="6B4FB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8808" y="2272284"/>
            <a:ext cx="246888" cy="24688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269584" y="2743200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Classify</a:t>
            </a:r>
            <a:endParaRPr lang="en-US" sz="1250" dirty="0"/>
          </a:p>
        </p:txBody>
      </p:sp>
      <p:sp>
        <p:nvSpPr>
          <p:cNvPr id="26" name="Text 17"/>
          <p:cNvSpPr/>
          <p:nvPr/>
        </p:nvSpPr>
        <p:spPr>
          <a:xfrm>
            <a:off x="6287872" y="308152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5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maps to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5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5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</a:t>
            </a:r>
            <a:endParaRPr lang="en-US" sz="95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8072" y="3031236"/>
            <a:ext cx="201168" cy="201168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8089240" y="1965960"/>
            <a:ext cx="1691640" cy="2331720"/>
          </a:xfrm>
          <a:prstGeom prst="roundRect">
            <a:avLst>
              <a:gd name="adj" fmla="val 4324"/>
            </a:avLst>
          </a:prstGeom>
          <a:solidFill>
            <a:srgbClr val="3D2E73"/>
          </a:solidFill>
          <a:ln w="12700">
            <a:solidFill>
              <a:srgbClr val="6B4F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19"/>
          <p:cNvSpPr/>
          <p:nvPr/>
        </p:nvSpPr>
        <p:spPr>
          <a:xfrm>
            <a:off x="8706460" y="2167128"/>
            <a:ext cx="457200" cy="457200"/>
          </a:xfrm>
          <a:prstGeom prst="ellipse">
            <a:avLst/>
          </a:prstGeom>
          <a:solidFill>
            <a:srgbClr val="6B4FB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1616" y="2272284"/>
            <a:ext cx="246888" cy="24688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8162392" y="2743200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Reason</a:t>
            </a:r>
            <a:endParaRPr lang="en-US" sz="1250" dirty="0"/>
          </a:p>
        </p:txBody>
      </p:sp>
      <p:sp>
        <p:nvSpPr>
          <p:cNvPr id="32" name="Text 21"/>
          <p:cNvSpPr/>
          <p:nvPr/>
        </p:nvSpPr>
        <p:spPr>
          <a:xfrm>
            <a:off x="8180680" y="308152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5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pipeline builds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5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brief; LLM runs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5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chain reasoning</a:t>
            </a:r>
            <a:endParaRPr lang="en-US" sz="95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0880" y="3031236"/>
            <a:ext cx="201168" cy="201168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9982048" y="1965960"/>
            <a:ext cx="1691640" cy="2331720"/>
          </a:xfrm>
          <a:prstGeom prst="roundRect">
            <a:avLst>
              <a:gd name="adj" fmla="val 4324"/>
            </a:avLst>
          </a:prstGeom>
          <a:solidFill>
            <a:srgbClr val="3D2E73"/>
          </a:solidFill>
          <a:ln w="12700">
            <a:solidFill>
              <a:srgbClr val="6B4F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3"/>
          <p:cNvSpPr/>
          <p:nvPr/>
        </p:nvSpPr>
        <p:spPr>
          <a:xfrm>
            <a:off x="10599268" y="2167128"/>
            <a:ext cx="457200" cy="457200"/>
          </a:xfrm>
          <a:prstGeom prst="ellipse">
            <a:avLst/>
          </a:prstGeom>
          <a:solidFill>
            <a:srgbClr val="6B4FB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04424" y="2272284"/>
            <a:ext cx="246888" cy="24688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10055200" y="2743200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Verdict</a:t>
            </a:r>
            <a:endParaRPr lang="en-US" sz="1250" dirty="0"/>
          </a:p>
        </p:txBody>
      </p:sp>
      <p:sp>
        <p:nvSpPr>
          <p:cNvPr id="38" name="Text 25"/>
          <p:cNvSpPr/>
          <p:nvPr/>
        </p:nvSpPr>
        <p:spPr>
          <a:xfrm>
            <a:off x="10073488" y="3081528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5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citations +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5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exposure +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D5D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50" dirty="0"/>
          </a:p>
        </p:txBody>
      </p:sp>
      <p:sp>
        <p:nvSpPr>
          <p:cNvPr id="39" name="Shape 26"/>
          <p:cNvSpPr/>
          <p:nvPr/>
        </p:nvSpPr>
        <p:spPr>
          <a:xfrm>
            <a:off x="1158088" y="480060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2428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27"/>
          <p:cNvSpPr/>
          <p:nvPr/>
        </p:nvSpPr>
        <p:spPr>
          <a:xfrm>
            <a:off x="1340968" y="4892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7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300" dirty="0"/>
          </a:p>
        </p:txBody>
      </p:sp>
      <p:sp>
        <p:nvSpPr>
          <p:cNvPr id="41" name="Text 28"/>
          <p:cNvSpPr/>
          <p:nvPr/>
        </p:nvSpPr>
        <p:spPr>
          <a:xfrm>
            <a:off x="1340968" y="52212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care-gap screening</a:t>
            </a:r>
            <a:endParaRPr lang="en-US" sz="1050" dirty="0"/>
          </a:p>
        </p:txBody>
      </p:sp>
      <p:sp>
        <p:nvSpPr>
          <p:cNvPr id="42" name="Shape 29"/>
          <p:cNvSpPr/>
          <p:nvPr/>
        </p:nvSpPr>
        <p:spPr>
          <a:xfrm>
            <a:off x="4541368" y="480060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2428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30"/>
          <p:cNvSpPr/>
          <p:nvPr/>
        </p:nvSpPr>
        <p:spPr>
          <a:xfrm>
            <a:off x="4724248" y="4892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7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300" dirty="0"/>
          </a:p>
        </p:txBody>
      </p:sp>
      <p:sp>
        <p:nvSpPr>
          <p:cNvPr id="44" name="Text 31"/>
          <p:cNvSpPr/>
          <p:nvPr/>
        </p:nvSpPr>
        <p:spPr>
          <a:xfrm>
            <a:off x="4724248" y="52212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 audit</a:t>
            </a:r>
            <a:endParaRPr lang="en-US" sz="1050" dirty="0"/>
          </a:p>
        </p:txBody>
      </p:sp>
      <p:sp>
        <p:nvSpPr>
          <p:cNvPr id="45" name="Shape 32"/>
          <p:cNvSpPr/>
          <p:nvPr/>
        </p:nvSpPr>
        <p:spPr>
          <a:xfrm>
            <a:off x="7924648" y="480060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2428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33"/>
          <p:cNvSpPr/>
          <p:nvPr/>
        </p:nvSpPr>
        <p:spPr>
          <a:xfrm>
            <a:off x="8107528" y="4892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7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47" name="Text 34"/>
          <p:cNvSpPr/>
          <p:nvPr/>
        </p:nvSpPr>
        <p:spPr>
          <a:xfrm>
            <a:off x="8107528" y="52212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Portfolio-level exposure</a:t>
            </a:r>
            <a:endParaRPr lang="en-US" sz="1050" dirty="0"/>
          </a:p>
        </p:txBody>
      </p:sp>
      <p:sp>
        <p:nvSpPr>
          <p:cNvPr id="48" name="Text 35"/>
          <p:cNvSpPr/>
          <p:nvPr/>
        </p:nvSpPr>
        <p:spPr>
          <a:xfrm>
            <a:off x="54864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TPO = Treatment, Payment, Operations - the three domains Cotiviti applications must cover</a:t>
            </a:r>
            <a:endParaRPr lang="en-US" sz="1000" dirty="0"/>
          </a:p>
        </p:txBody>
      </p:sp>
      <p:pic>
        <p:nvPicPr>
          <p:cNvPr id="52" name="Picture 51" descr="10 Top IT Companies In Nepal (2024)">
            <a:extLst>
              <a:ext uri="{FF2B5EF4-FFF2-40B4-BE49-F238E27FC236}">
                <a16:creationId xmlns:a16="http://schemas.microsoft.com/office/drawing/2014/main" id="{E9E2A0BA-27F3-76DF-F768-A63CC7E71C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0" y="1"/>
            <a:ext cx="2133600" cy="3644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Foundation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 synthetic provider profiles, each built on real CPT and ICD-10 codes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30175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Fraud Pattern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ICD-10 Diagnosis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CPT Procedure Conflict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D27"/>
                          </a:solidFill>
                        </a:rPr>
                        <a:t>Upcoding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7"/>
                          </a:solidFill>
                        </a:rPr>
                        <a:t>J06.9 (minor URI)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7"/>
                          </a:solidFill>
                        </a:rPr>
                        <a:t>99215 (complex visit)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D27"/>
                          </a:solidFill>
                        </a:rPr>
                        <a:t>Unbundling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7"/>
                          </a:solidFill>
                        </a:rPr>
                        <a:t>M23.200 (meniscus tear)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7"/>
                          </a:solidFill>
                        </a:rPr>
                        <a:t>29881 + 29882 split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D27"/>
                          </a:solidFill>
                        </a:rPr>
                        <a:t>Phantom Billing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7"/>
                          </a:solidFill>
                        </a:rPr>
                        <a:t>Z51.89 (other care)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7"/>
                          </a:solidFill>
                        </a:rPr>
                        <a:t>70553 (MRI, no visit)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D27"/>
                          </a:solidFill>
                        </a:rPr>
                        <a:t>Medically Unnecessary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7"/>
                          </a:solidFill>
                        </a:rPr>
                        <a:t>M54.5 (low back pain)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7"/>
                          </a:solidFill>
                        </a:rPr>
                        <a:t>27447 (knee replacement)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D27"/>
                          </a:solidFill>
                        </a:rPr>
                        <a:t>Seasonal Spike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7"/>
                          </a:solidFill>
                        </a:rPr>
                        <a:t>F32.1 (depression)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D27"/>
                          </a:solidFill>
                        </a:rPr>
                        <a:t>8x claims, months 11-12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00200"/>
            <a:ext cx="3794760" cy="4297680"/>
          </a:xfrm>
          <a:prstGeom prst="roundRect">
            <a:avLst>
              <a:gd name="adj" fmla="val 1928"/>
            </a:avLst>
          </a:prstGeom>
          <a:solidFill>
            <a:srgbClr val="F4F2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965960"/>
            <a:ext cx="411480" cy="411480"/>
          </a:xfrm>
          <a:prstGeom prst="rect">
            <a:avLst/>
          </a:prstGeom>
        </p:spPr>
      </p:pic>
      <p:sp>
        <p:nvSpPr>
          <p:cNvPr id="4" name="Text 3"/>
          <p:cNvSpPr/>
          <p:nvPr/>
        </p:nvSpPr>
        <p:spPr>
          <a:xfrm>
            <a:off x="8092440" y="2512255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real codes matter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8069580" y="2425506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diagnosis-procedure mismatch score only means something when the codes are real. M54.5 paired with CPT 27447 is a genuine clinical impossibility that any payer LCD policy would reject, not a synthetic placeholder.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separates a demo built on real domain logic from a generic healthcare AI mockup.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864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provider also includes 12 months of billing history and 4 synthetic patients for treatment risk screening.</a:t>
            </a:r>
            <a:endParaRPr lang="en-US" sz="1050" dirty="0"/>
          </a:p>
        </p:txBody>
      </p:sp>
      <p:pic>
        <p:nvPicPr>
          <p:cNvPr id="13" name="Picture 12" descr="10 Top IT Companies In Nepal (2024)">
            <a:extLst>
              <a:ext uri="{FF2B5EF4-FFF2-40B4-BE49-F238E27FC236}">
                <a16:creationId xmlns:a16="http://schemas.microsoft.com/office/drawing/2014/main" id="{BA7D5B81-276C-7758-3EC9-2AB2AA730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"/>
            <a:ext cx="2133600" cy="3644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 - Audit Interface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300" i="1" dirty="0"/>
              <a:t>Time-series anomaly detection, clustering, and risk classification</a:t>
            </a:r>
            <a:endParaRPr lang="en-US" sz="1300" i="1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4983480"/>
          </a:xfrm>
          <a:prstGeom prst="roundRect">
            <a:avLst>
              <a:gd name="adj" fmla="val 1101"/>
            </a:avLst>
          </a:prstGeom>
          <a:solidFill>
            <a:srgbClr val="F4F2FB"/>
          </a:solidFill>
          <a:ln w="15875">
            <a:solidFill>
              <a:srgbClr val="9B7FE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D88B8C-2B6B-C041-58E4-6DED33F2B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88" y="1784018"/>
            <a:ext cx="10440744" cy="4341524"/>
          </a:xfrm>
          <a:prstGeom prst="rect">
            <a:avLst/>
          </a:prstGeom>
        </p:spPr>
      </p:pic>
      <p:pic>
        <p:nvPicPr>
          <p:cNvPr id="8" name="Picture 7" descr="10 Top IT Companies In Nepal (2024)">
            <a:extLst>
              <a:ext uri="{FF2B5EF4-FFF2-40B4-BE49-F238E27FC236}">
                <a16:creationId xmlns:a16="http://schemas.microsoft.com/office/drawing/2014/main" id="{56606DD9-1535-1E7C-6387-1B9E47425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"/>
            <a:ext cx="2133600" cy="3644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284551-6C60-5D75-900B-90FB25FFC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D836B2A-4BE7-6767-404F-80DD129A6290}"/>
              </a:ext>
            </a:extLst>
          </p:cNvPr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 - Audit Interface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829FC5-7A86-4449-510D-7BA6D4FA4FCD}"/>
              </a:ext>
            </a:extLst>
          </p:cNvPr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300" i="1" dirty="0"/>
              <a:t>Prediction, inference, and treatment risk screening</a:t>
            </a:r>
            <a:endParaRPr lang="en-US" sz="1300" i="1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3FA6F5F-9DBF-9BAF-496A-74BAC973E065}"/>
              </a:ext>
            </a:extLst>
          </p:cNvPr>
          <p:cNvSpPr/>
          <p:nvPr/>
        </p:nvSpPr>
        <p:spPr>
          <a:xfrm>
            <a:off x="548640" y="1463040"/>
            <a:ext cx="11064240" cy="4983480"/>
          </a:xfrm>
          <a:prstGeom prst="roundRect">
            <a:avLst>
              <a:gd name="adj" fmla="val 1101"/>
            </a:avLst>
          </a:prstGeom>
          <a:solidFill>
            <a:srgbClr val="F4F2FB"/>
          </a:solidFill>
          <a:ln w="15875">
            <a:solidFill>
              <a:srgbClr val="9B7FE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56FB6E-94FB-B348-64D0-8DCAD1DEA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507" y="2007028"/>
            <a:ext cx="9560986" cy="16505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AEB64A-6CD6-05E4-DD7A-596DBCEF3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21" y="4201587"/>
            <a:ext cx="10363478" cy="1691787"/>
          </a:xfrm>
          <a:prstGeom prst="rect">
            <a:avLst/>
          </a:prstGeom>
        </p:spPr>
      </p:pic>
      <p:pic>
        <p:nvPicPr>
          <p:cNvPr id="8" name="Picture 7" descr="10 Top IT Companies In Nepal (2024)">
            <a:extLst>
              <a:ext uri="{FF2B5EF4-FFF2-40B4-BE49-F238E27FC236}">
                <a16:creationId xmlns:a16="http://schemas.microsoft.com/office/drawing/2014/main" id="{C25DBBDB-341E-7B7A-74A7-5E2FE5EA0D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1"/>
            <a:ext cx="2133600" cy="36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634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C9C5AB-F96E-79C5-3BC9-156808142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E015C9-3B25-5F73-8285-BE311332C608}"/>
              </a:ext>
            </a:extLst>
          </p:cNvPr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 - Agentic Chain Reasoning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14DFFB7-C2BF-4595-9D78-6B68DEECE00D}"/>
              </a:ext>
            </a:extLst>
          </p:cNvPr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Agent activity log</a:t>
            </a:r>
            <a:r>
              <a:rPr lang="en-US" sz="1300" dirty="0"/>
              <a:t> </a:t>
            </a: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and Structured 5-step Groq Llama 3.3 audit brief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E42D798-FDB8-9F4D-2E8F-5304B2E02601}"/>
              </a:ext>
            </a:extLst>
          </p:cNvPr>
          <p:cNvSpPr/>
          <p:nvPr/>
        </p:nvSpPr>
        <p:spPr>
          <a:xfrm>
            <a:off x="548640" y="1463040"/>
            <a:ext cx="11064240" cy="4983480"/>
          </a:xfrm>
          <a:prstGeom prst="roundRect">
            <a:avLst>
              <a:gd name="adj" fmla="val 1101"/>
            </a:avLst>
          </a:prstGeom>
          <a:solidFill>
            <a:srgbClr val="F4F2FB"/>
          </a:solidFill>
          <a:ln w="15875">
            <a:solidFill>
              <a:srgbClr val="9B7FE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871ACE-95A9-F6F7-7DEC-80C497448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106" y="1519848"/>
            <a:ext cx="6613377" cy="48698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D1B5ED-E0B1-77A2-DC19-CDD971FD20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00" t="20548" r="53354" b="4564"/>
          <a:stretch>
            <a:fillRect/>
          </a:stretch>
        </p:blipFill>
        <p:spPr>
          <a:xfrm>
            <a:off x="615072" y="3096050"/>
            <a:ext cx="4325034" cy="2012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A2A05F-43A3-1097-BE52-5EF89A4BAD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984" t="2633" r="31641" b="81952"/>
          <a:stretch>
            <a:fillRect/>
          </a:stretch>
        </p:blipFill>
        <p:spPr>
          <a:xfrm>
            <a:off x="1204450" y="2745728"/>
            <a:ext cx="3146278" cy="371460"/>
          </a:xfrm>
          <a:prstGeom prst="rect">
            <a:avLst/>
          </a:prstGeom>
        </p:spPr>
      </p:pic>
      <p:pic>
        <p:nvPicPr>
          <p:cNvPr id="10" name="Picture 9" descr="10 Top IT Companies In Nepal (2024)">
            <a:extLst>
              <a:ext uri="{FF2B5EF4-FFF2-40B4-BE49-F238E27FC236}">
                <a16:creationId xmlns:a16="http://schemas.microsoft.com/office/drawing/2014/main" id="{52C6C4DC-BD19-64FE-F4B2-DA0FB576BA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1"/>
            <a:ext cx="2133600" cy="36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08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 - Operations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Portfolio-level view across all 10 providers - the Operations domain of TPO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4983480"/>
          </a:xfrm>
          <a:prstGeom prst="roundRect">
            <a:avLst>
              <a:gd name="adj" fmla="val 1101"/>
            </a:avLst>
          </a:prstGeom>
          <a:solidFill>
            <a:srgbClr val="F4F2FB"/>
          </a:solidFill>
          <a:ln w="15875">
            <a:solidFill>
              <a:srgbClr val="9B7FE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67FEFA-FEB4-89D6-DB9F-6064BEE75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791" y="1534415"/>
            <a:ext cx="9823938" cy="4840729"/>
          </a:xfrm>
          <a:prstGeom prst="rect">
            <a:avLst/>
          </a:prstGeom>
        </p:spPr>
      </p:pic>
      <p:pic>
        <p:nvPicPr>
          <p:cNvPr id="9" name="Picture 8" descr="10 Top IT Companies In Nepal (2024)">
            <a:extLst>
              <a:ext uri="{FF2B5EF4-FFF2-40B4-BE49-F238E27FC236}">
                <a16:creationId xmlns:a16="http://schemas.microsoft.com/office/drawing/2014/main" id="{CC00E8A3-50B8-EF2F-B71E-EEF4375C4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"/>
            <a:ext cx="2133600" cy="3644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398D7-D39F-0870-1DEE-B31E0D76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405150-88BC-A453-20BB-FB37310F4AE7}"/>
              </a:ext>
            </a:extLst>
          </p:cNvPr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 - Operations Overview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D42FDA-B5CF-121A-74A6-67C0668D40F9}"/>
              </a:ext>
            </a:extLst>
          </p:cNvPr>
          <p:cNvSpPr/>
          <p:nvPr/>
        </p:nvSpPr>
        <p:spPr>
          <a:xfrm>
            <a:off x="54864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Provider portfolio summary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0698BBA-CFEB-B1FE-2BF4-35FC374D99FC}"/>
              </a:ext>
            </a:extLst>
          </p:cNvPr>
          <p:cNvSpPr/>
          <p:nvPr/>
        </p:nvSpPr>
        <p:spPr>
          <a:xfrm>
            <a:off x="548640" y="1463040"/>
            <a:ext cx="11064240" cy="4983480"/>
          </a:xfrm>
          <a:prstGeom prst="roundRect">
            <a:avLst>
              <a:gd name="adj" fmla="val 1101"/>
            </a:avLst>
          </a:prstGeom>
          <a:solidFill>
            <a:srgbClr val="F4F2FB"/>
          </a:solidFill>
          <a:ln w="15875">
            <a:solidFill>
              <a:srgbClr val="9B7FEB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624838-C67F-2D78-0B18-E1BFA0B9E4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9000"/>
                    </a14:imgEffect>
                  </a14:imgLayer>
                </a14:imgProps>
              </a:ext>
            </a:extLst>
          </a:blip>
          <a:srcRect l="1344" t="3128" r="301" b="8775"/>
          <a:stretch>
            <a:fillRect/>
          </a:stretch>
        </p:blipFill>
        <p:spPr>
          <a:xfrm>
            <a:off x="4836794" y="2356485"/>
            <a:ext cx="2518411" cy="349097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EBB36C-A739-5398-84EA-8C57CB7C1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55" y="2705582"/>
            <a:ext cx="10899157" cy="2554758"/>
          </a:xfrm>
          <a:prstGeom prst="rect">
            <a:avLst/>
          </a:prstGeom>
        </p:spPr>
      </p:pic>
      <p:pic>
        <p:nvPicPr>
          <p:cNvPr id="8" name="Picture 7" descr="10 Top IT Companies In Nepal (2024)">
            <a:extLst>
              <a:ext uri="{FF2B5EF4-FFF2-40B4-BE49-F238E27FC236}">
                <a16:creationId xmlns:a16="http://schemas.microsoft.com/office/drawing/2014/main" id="{6128BFDD-AA84-BAB1-C547-7D049230A8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1"/>
            <a:ext cx="2133600" cy="36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045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Snapshot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of 10 providers, scored end-to-end by the pipeline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4F2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4505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flagged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4F2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337560" y="17556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74720" y="24505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flagged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4F2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126480" y="17556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63640" y="24505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(clean control)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4F2F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915400" y="17556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B4F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$15.8M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52560" y="24505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exposure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D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checks confirmed correct behavior at both extremes:</a:t>
            </a:r>
            <a:endParaRPr lang="en-US" sz="13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133088"/>
            <a:ext cx="237744" cy="23774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60120" y="409651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control provider (PRV-010, Pediatrics) correctly scored LOW risk, no false positive on legitimate billing</a:t>
            </a:r>
            <a:endParaRPr lang="en-US" sz="12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636008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60120" y="45994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spike provider (PRV-008) correctly flagged months 11-12 with Z-score 2.17 against an 8x claims jump</a:t>
            </a:r>
            <a:endParaRPr lang="en-US" sz="12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138928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60120" y="510235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Medically Unnecessary Procedures (PRV-006) scored HIGH with 94.6% confidence on the DX-CPT mismatch flag</a:t>
            </a:r>
            <a:endParaRPr lang="en-US" sz="125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641848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56052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provider (PRV-009) correctly landed in MEDIUM, proving the system isn't binary</a:t>
            </a:r>
            <a:endParaRPr lang="en-US" sz="1250" dirty="0"/>
          </a:p>
        </p:txBody>
      </p:sp>
      <p:pic>
        <p:nvPicPr>
          <p:cNvPr id="28" name="Picture 27" descr="10 Top IT Companies In Nepal (2024)">
            <a:extLst>
              <a:ext uri="{FF2B5EF4-FFF2-40B4-BE49-F238E27FC236}">
                <a16:creationId xmlns:a16="http://schemas.microsoft.com/office/drawing/2014/main" id="{BF83104C-53A5-8683-91FF-E75C73502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"/>
            <a:ext cx="2133600" cy="3644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D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chosen for a specific reason, not convenience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22452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B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Why This Choice</a:t>
                      </a:r>
                      <a:endParaRPr lang="en-US" sz="12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D27"/>
                          </a:solidFill>
                        </a:rPr>
                        <a:t>Streamlit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D27"/>
                          </a:solidFill>
                        </a:rPr>
                        <a:t>UI framework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D27"/>
                          </a:solidFill>
                        </a:rPr>
                        <a:t>Fast path from Python analytics to an interactive dashboard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D27"/>
                          </a:solidFill>
                        </a:rPr>
                        <a:t>Groq - Llama 3.3 70B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D27"/>
                          </a:solidFill>
                        </a:rPr>
                        <a:t>Chain reasoning LLM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D27"/>
                          </a:solidFill>
                        </a:rPr>
                        <a:t>Free tier, sub-second streaming, strong structured-output quality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D27"/>
                          </a:solidFill>
                        </a:rPr>
                        <a:t>scikit-learn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D27"/>
                          </a:solidFill>
                        </a:rPr>
                        <a:t>K-Means + StandardScaler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D27"/>
                          </a:solidFill>
                        </a:rPr>
                        <a:t>Production-grade clustering; scaling prevents dollar-amount features from dominating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D27"/>
                          </a:solidFill>
                        </a:rPr>
                        <a:t>NumPy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D27"/>
                          </a:solidFill>
                        </a:rPr>
                        <a:t>Z-score detection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D27"/>
                          </a:solidFill>
                        </a:rPr>
                        <a:t>Vectorized, statistically grounded, not a fixed if/else threshold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D27"/>
                          </a:solidFill>
                        </a:rPr>
                        <a:t>Plotly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D27"/>
                          </a:solidFill>
                        </a:rPr>
                        <a:t>Interactive charts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D27"/>
                          </a:solidFill>
                        </a:rPr>
                        <a:t>Hover detail and annotation layers a static chart can't provide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D27"/>
                          </a:solidFill>
                        </a:rPr>
                        <a:t>Pandas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D27"/>
                          </a:solidFill>
                        </a:rPr>
                        <a:t>Data handling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D27"/>
                          </a:solidFill>
                        </a:rPr>
                        <a:t>DataFrame styling enables risk-tier row highlighting in the portfolio table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" name="Picture 6" descr="10 Top IT Companies In Nepal (2024)">
            <a:extLst>
              <a:ext uri="{FF2B5EF4-FFF2-40B4-BE49-F238E27FC236}">
                <a16:creationId xmlns:a16="http://schemas.microsoft.com/office/drawing/2014/main" id="{EB3A533F-A4BD-3BC7-AE00-DAD2AE56D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1"/>
            <a:ext cx="2133600" cy="3644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 for Cotiviti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pattern-recognition approach fits Cotiviti's current trajectory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2428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6B4FB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029968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9280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 with chain-reasoning briefs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structured, regulation-cited audit briefs pre-payment, not just post-payment recovery, using the Edifecs interoperability layer for real-time claim context.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2428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400800" y="1920240"/>
            <a:ext cx="457200" cy="457200"/>
          </a:xfrm>
          <a:prstGeom prst="ellipse">
            <a:avLst/>
          </a:prstGeom>
          <a:solidFill>
            <a:srgbClr val="6B4FB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029968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89280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unsupervised clustering coverage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46520" y="256032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centroid-derived cluster labeling across the full provider book to surface emerging fraud patterns the rules engine hasn't been trained to name yet.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2428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rgbClr val="6B4FB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453128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31596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agentic audit trails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498348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AI flag explainable step-by-step, satisfying both internal QA and the transparency payers are demanding from the AI Center of Excellence.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411480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2428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400800" y="4343400"/>
            <a:ext cx="457200" cy="457200"/>
          </a:xfrm>
          <a:prstGeom prst="ellipse">
            <a:avLst/>
          </a:prstGeom>
          <a:solidFill>
            <a:srgbClr val="6B4FB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4453128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431596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LLM output with mandatory citation checks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46520" y="498348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every chain-reasoning verdict to cite a specific CMS, OIG, or LCD reference before it reaches a human reviewer, reducing legal exposure.</a:t>
            </a:r>
            <a:endParaRPr lang="en-US" sz="1100" dirty="0"/>
          </a:p>
        </p:txBody>
      </p:sp>
      <p:pic>
        <p:nvPicPr>
          <p:cNvPr id="27" name="Picture 26" descr="10 Top IT Companies In Nepal (2024)">
            <a:extLst>
              <a:ext uri="{FF2B5EF4-FFF2-40B4-BE49-F238E27FC236}">
                <a16:creationId xmlns:a16="http://schemas.microsoft.com/office/drawing/2014/main" id="{8DE1ECF5-1C80-307D-89C7-A500821E46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0" y="1"/>
            <a:ext cx="2133600" cy="3644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645920"/>
            <a:ext cx="5029200" cy="5029200"/>
          </a:xfrm>
          <a:prstGeom prst="ellipse">
            <a:avLst/>
          </a:prstGeom>
          <a:solidFill>
            <a:srgbClr val="3D2E73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326880" y="3474720"/>
            <a:ext cx="4206240" cy="4206240"/>
          </a:xfrm>
          <a:prstGeom prst="ellipse">
            <a:avLst/>
          </a:prstGeom>
          <a:solidFill>
            <a:srgbClr val="6B4FBB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9436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B7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" y="3736539"/>
            <a:ext cx="2743200" cy="0"/>
          </a:xfrm>
          <a:prstGeom prst="line">
            <a:avLst/>
          </a:prstGeom>
          <a:noFill/>
          <a:ln w="19050">
            <a:solidFill>
              <a:srgbClr val="9B7F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Jey Praveen Sivaraj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44988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jeypraveenn@gmail.com 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" y="479145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linkedin.com/in/jey-praveen-sivaraj44646a303</a:t>
            </a:r>
            <a:endParaRPr lang="en-US" sz="1200" dirty="0">
              <a:solidFill>
                <a:srgbClr val="E7E6E6"/>
              </a:solidFill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676FF61-A489-6EBF-0A2A-3A8BE4392822}"/>
              </a:ext>
            </a:extLst>
          </p:cNvPr>
          <p:cNvSpPr/>
          <p:nvPr/>
        </p:nvSpPr>
        <p:spPr>
          <a:xfrm>
            <a:off x="594360" y="508406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https://jeypraveen.github.io/jeypraveensivaraj.github.io/</a:t>
            </a:r>
          </a:p>
        </p:txBody>
      </p:sp>
      <p:pic>
        <p:nvPicPr>
          <p:cNvPr id="14" name="Picture 13" descr="10 Top IT Companies In Nepal (2024)">
            <a:extLst>
              <a:ext uri="{FF2B5EF4-FFF2-40B4-BE49-F238E27FC236}">
                <a16:creationId xmlns:a16="http://schemas.microsoft.com/office/drawing/2014/main" id="{ABBBB903-66A6-3281-A086-1A1171139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1"/>
            <a:ext cx="2133600" cy="3644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1045</Words>
  <Application>Microsoft Office PowerPoint</Application>
  <PresentationFormat>Widescreen</PresentationFormat>
  <Paragraphs>212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ClinicalAudit AI - Cotiviti GenAI Intern Assessment</dc:title>
  <dc:subject>PptxGenJS Presentation</dc:subject>
  <dc:creator>Jey Praveen Sivaraj</dc:creator>
  <cp:lastModifiedBy>Jey Praveen</cp:lastModifiedBy>
  <cp:revision>5</cp:revision>
  <dcterms:created xsi:type="dcterms:W3CDTF">2026-06-30T18:34:50Z</dcterms:created>
  <dcterms:modified xsi:type="dcterms:W3CDTF">2026-07-01T08:53:00Z</dcterms:modified>
</cp:coreProperties>
</file>